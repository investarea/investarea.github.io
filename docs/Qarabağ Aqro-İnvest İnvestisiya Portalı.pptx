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57" ns1:id="rId8"/>
    <ns0:sldId id="267" ns1:id="rId18"/>
  </ns0:sldIdLst>
  <ns0:sldSz cx="12192000" cy="6858000" type="screen4x3"/>
  <ns0:notesSz cx="6858000" cy="9144000"/>
  <ns0:embeddedFontLst>
    <ns0:embeddedFont>
      <ns0:font typeface="Outfit"/>
      <ns0:bold ns1:id="rIdFont19"/>
    </ns0:embeddedFont>
    <ns0:embeddedFont>
      <ns0:font typeface="Inter"/>
      <ns0:bold ns1:id="rIdFont20"/>
      <ns0:regular ns1:id="rIdFont2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Font19" Type="http://schemas.openxmlformats.org/officeDocument/2006/relationships/font" Target="fonts/ad7f9871-43ff-47fb-838a-ca5d40b58c15.fntdata"/><Relationship Id="rIdFont20" Type="http://schemas.openxmlformats.org/officeDocument/2006/relationships/font" Target="fonts/b016485b-3b01-4831-95f9-7995ad46503b.fntdata"/><Relationship Id="rIdFont21" Type="http://schemas.openxmlformats.org/officeDocument/2006/relationships/font" Target="fonts/304c7f89-5cba-4833-8f78-91e7fee85175.fntdata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1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463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868019"/>
            <a:ext cx="219075" cy="19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8425" y="4868019"/>
            <a:ext cx="190500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5296644"/>
            <a:ext cx="17145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09875" y="5296644"/>
            <a:ext cx="238125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1366093"/>
            <a:ext cx="6477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ADE80"/>
                </a:solidFill>
                <a:latin typeface="Inter"/>
              </a:rPr>
              <a:t>KƏND TƏSƏRRÜFATI NAZIRLIYI &amp; EKTİS SISTEMI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708993"/>
            <a:ext cx="5540692" cy="1508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b="1" sz="5400" i="0" u="none">
                <a:solidFill>
                  <a:srgbClr val="FFFFFF"/>
                </a:solidFill>
                <a:latin typeface="Outfit"/>
              </a:rPr>
              <a:t>Qarabağ Aqro-İnvest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446115"/>
            <a:ext cx="4758630" cy="959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CBD5E1"/>
                </a:solidFill>
                <a:latin typeface="Inter"/>
              </a:rPr>
              <a:t>İşğaldan azad edilmiş ərazilərdə kənd təsərrüfatı üzrə İnvestisiya Müsabiqəsi Portalı.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375" y="4863256"/>
            <a:ext cx="1643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Inter"/>
              </a:rPr>
              <a:t>GIS Aqrar Xəritə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3225" y="4863256"/>
            <a:ext cx="1833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Inter"/>
              </a:rPr>
              <a:t>ANAMA &amp; Kadastr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" y="5291881"/>
            <a:ext cx="19169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Inter"/>
              </a:rPr>
              <a:t>4-Addımlı Müraciət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2300" y="5291881"/>
            <a:ext cx="1285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Inter"/>
              </a:rPr>
              <a:t>EKTİS Şlüzü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E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62000" y="2371725"/>
            <a:ext cx="5029200" cy="3724275"/>
          </a:xfrm>
          <a:prstGeom prst="roundRect">
            <a:avLst>
              <a:gd name="adj" fmla="val 6138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0" y="2371725"/>
            <a:ext cx="5029200" cy="3724275"/>
          </a:xfrm>
          <a:prstGeom prst="roundRect">
            <a:avLst>
              <a:gd name="adj" fmla="val 613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2924175"/>
            <a:ext cx="304800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114675"/>
            <a:ext cx="342900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5400" y="3695700"/>
            <a:ext cx="200025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5400" y="4267200"/>
            <a:ext cx="200025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5400" y="4838700"/>
            <a:ext cx="200025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4200" y="4076700"/>
            <a:ext cx="200025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4200" y="4648200"/>
            <a:ext cx="228600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4200" y="5219700"/>
            <a:ext cx="257175" cy="247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-285750" y="762000"/>
            <a:ext cx="127635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Outfit"/>
              </a:rPr>
              <a:t>Vahid Rəqəmsal İnvestisiya Platforması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285750" y="1485900"/>
            <a:ext cx="127635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64748B"/>
                </a:solidFill>
                <a:latin typeface="Inter"/>
              </a:rPr>
              <a:t>Dövlət və investorlar arasında tam şəffaf, sürətli körpü.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90700" y="2905125"/>
            <a:ext cx="3012876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64E3B"/>
                </a:solidFill>
                <a:latin typeface="Outfit"/>
              </a:rPr>
              <a:t>İnvestorlar Üçün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85925" y="3667125"/>
            <a:ext cx="366712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Inter"/>
              </a:rPr>
              <a:t>İnteraktiv GIS xəritə axtarışı.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85925" y="4238625"/>
            <a:ext cx="366712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Inter"/>
              </a:rPr>
              <a:t>Torpaq boniteti və NDVI.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85925" y="4810125"/>
            <a:ext cx="366712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Inter"/>
              </a:rPr>
              <a:t>Yan-yana parametrik müqayisə.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67600" y="2905125"/>
            <a:ext cx="3700462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Outfit"/>
              </a:rPr>
              <a:t>Dövlət və Komissiya Üçün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24725" y="4048125"/>
            <a:ext cx="366712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Inter"/>
              </a:rPr>
              <a:t>İkitərəfli EKTİS və ANAMA şlüzü.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53300" y="4619625"/>
            <a:ext cx="36385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Inter"/>
              </a:rPr>
              <a:t>Real-vaxt analitika paneli.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81875" y="5191125"/>
            <a:ext cx="36099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Inter"/>
              </a:rPr>
              <a:t>Tək kliklə EKTİS bazasına ixrac.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48400" y="2304008"/>
            <a:ext cx="5181600" cy="1171575"/>
          </a:xfrm>
          <a:prstGeom prst="roundRect">
            <a:avLst>
              <a:gd name="adj" fmla="val 1300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3704183"/>
            <a:ext cx="5181600" cy="1171575"/>
          </a:xfrm>
          <a:prstGeom prst="roundRect">
            <a:avLst>
              <a:gd name="adj" fmla="val 1300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48400" y="5104358"/>
            <a:ext cx="5181600" cy="1171575"/>
          </a:xfrm>
          <a:prstGeom prst="roundRect">
            <a:avLst>
              <a:gd name="adj" fmla="val 1300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48400" y="2304008"/>
            <a:ext cx="57150" cy="117157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48400" y="3704183"/>
            <a:ext cx="57150" cy="1171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48400" y="5104358"/>
            <a:ext cx="57150" cy="1171575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48400" y="582066"/>
            <a:ext cx="59436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6A34A"/>
                </a:solidFill>
                <a:latin typeface="Inter"/>
              </a:rPr>
              <a:t>GIS XƏRITƏLƏMƏ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8400" y="886866"/>
            <a:ext cx="5540692" cy="959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0F172A"/>
                </a:solidFill>
                <a:latin typeface="Outfit"/>
              </a:rPr>
              <a:t>Dəqiq Aqro-İqlim Ekosistemi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0350" y="2608808"/>
            <a:ext cx="558165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Outfit"/>
              </a:rPr>
              <a:t>Torpaq Boniteti &amp; Kimyası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0350" y="2970758"/>
            <a:ext cx="55816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80-88 bonitet xalı. pH: 6.8 - 7.4.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0350" y="4008983"/>
            <a:ext cx="558165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Outfit"/>
              </a:rPr>
              <a:t>Suvarma İnfrastrukturu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0350" y="4370933"/>
            <a:ext cx="55816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Pivot və damcılı suvarma (40% qənaət).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0350" y="5409158"/>
            <a:ext cx="558165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Outfit"/>
              </a:rPr>
              <a:t>NDVI &amp; Peyk Monitorinqi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0350" y="5771108"/>
            <a:ext cx="55816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Canlı vegetasiya indeksi (0.58 - 0.72).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E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295400" y="3541514"/>
            <a:ext cx="96012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-285750" y="1903214"/>
            <a:ext cx="127635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Outfit"/>
              </a:rPr>
              <a:t>4-Addımlı Elektron Müraciət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90700" y="3236714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57700" y="3236714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24700" y="3236714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791700" y="3236714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7825" y="3236714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9117" y="4074914"/>
            <a:ext cx="2112764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Outfit"/>
              </a:rPr>
              <a:t>VÖEN Yoxlanışı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474964"/>
            <a:ext cx="26670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EKTİS reytinqi və subsidiya statusu.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4825" y="3236714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5076" y="4074914"/>
            <a:ext cx="1654698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Outfit"/>
              </a:rPr>
              <a:t>Sahə Seçimi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4474964"/>
            <a:ext cx="26670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Ağdam, Füzuli, Zəngilan üzrə poliqonlar.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1825" y="3236714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9927" y="4074914"/>
            <a:ext cx="1658996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Outfit"/>
              </a:rPr>
              <a:t>Göstəricilər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7203" y="4474964"/>
            <a:ext cx="2464593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Kapital və yeni iş yerləri.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8825" y="3236714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8FAFC"/>
                </a:solidFill>
                <a:latin typeface="Inte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79564" y="4074914"/>
            <a:ext cx="1033722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Outfit"/>
              </a:rPr>
              <a:t>Təsdiq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3000" y="4474964"/>
            <a:ext cx="26670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Unikal INV-2026-AGD izləmə kodu.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19800" y="1608832"/>
            <a:ext cx="5410200" cy="3640187"/>
          </a:xfrm>
          <a:prstGeom prst="roundRect">
            <a:avLst>
              <a:gd name="adj" fmla="val 627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973585"/>
            <a:ext cx="45720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783210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592835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3087885"/>
            <a:ext cx="28575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9162" y="3897510"/>
            <a:ext cx="14287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300" y="4707135"/>
            <a:ext cx="22860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1784002"/>
            <a:ext cx="5000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B82F6"/>
                </a:solidFill>
                <a:latin typeface="Inter"/>
              </a:rPr>
              <a:t>DÖVLƏT İNTEQRASIYASI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2088802"/>
            <a:ext cx="5000000" cy="479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0F172A"/>
                </a:solidFill>
                <a:latin typeface="Outfit"/>
              </a:rPr>
              <a:t>EKTİS və ANAMA Şlüzü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89832"/>
            <a:ext cx="57912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monospace"/>
              </a:rPr>
              <a:t>GET /api/v1/ektis/farmer/1402345671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99407"/>
            <a:ext cx="4743450" cy="2468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  <a:defRPr sz="1100">
                <a:solidFill>
                  <a:srgbClr val="34D399"/>
                </a:solidFill>
                <a:latin typeface="Consolas"/>
              </a:defRPr>
            </a:pPr>
            <a:r>
              <a:t>{</a:t>
            </a:r>
            <a:br/>
            <a:r>
              <a:t>  "voen": "1402345671",</a:t>
            </a:r>
            <a:br/>
            <a:r>
              <a:t>  "pin": "5A7B8C9",</a:t>
            </a:r>
            <a:br/>
            <a:r>
              <a:t>  "companyName": "Qarabağ Aqro-İnvest MMC",</a:t>
            </a:r>
            <a:br/>
            <a:r>
              <a:t>  "verifiedInEktis": true,</a:t>
            </a:r>
            <a:br/>
            <a:r>
              <a:t>  "subsidyStatus": "Aktiv (Uyğundur)",</a:t>
            </a:r>
            <a:br/>
            <a:r>
              <a:t>  "agroRatingScore": 92,</a:t>
            </a:r>
            <a:br/>
            <a:r>
              <a:t>  "anamaCertificate": "TƏMİZLƏNİB"</a:t>
            </a:r>
            <a:br/>
            <a: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7800" y="2949773"/>
            <a:ext cx="317539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Outfit"/>
              </a:rPr>
              <a:t>KTN EKTİS Şlüzü (v2.4)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7800" y="3254573"/>
            <a:ext cx="3024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Fermer qeydiyyatı və reytinqi.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7800" y="3759398"/>
            <a:ext cx="352544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Outfit"/>
              </a:rPr>
              <a:t>Dövlət Torpaq Kadastrı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7800" y="4064198"/>
            <a:ext cx="3357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Hüquqi ölçü və mülkiyyət təsdiqi.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7800" y="4569023"/>
            <a:ext cx="405050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Outfit"/>
              </a:rPr>
              <a:t>ANAMA Məlumat Bazası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7800" y="4873823"/>
            <a:ext cx="38576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Minatəmizləmə sertifikatının yoxlanışı.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0" y="2824311"/>
            <a:ext cx="5029200" cy="2571452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2124075"/>
            <a:ext cx="228600" cy="136177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6775" y="2336452"/>
            <a:ext cx="19050" cy="42579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2000" y="3143250"/>
            <a:ext cx="228600" cy="136177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6775" y="3355627"/>
            <a:ext cx="19050" cy="42579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2000" y="4162425"/>
            <a:ext cx="228600" cy="136177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6775" y="4374802"/>
            <a:ext cx="19050" cy="42579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2000" y="51816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762000"/>
            <a:ext cx="11430000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0F172A"/>
                </a:solidFill>
                <a:latin typeface="Outfit"/>
              </a:rPr>
              <a:t>Şəffaf İzlənmə və Audit Zənciri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419225"/>
            <a:ext cx="114300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64748B"/>
                </a:solidFill>
                <a:latin typeface="Inter"/>
              </a:rPr>
              <a:t>Müraciətin hər addımı vaxt möhürü (Timestamp) ilə geri qaytarılmaz qeydə alınır.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1800" y="3205311"/>
            <a:ext cx="5334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"/>
              </a:rPr>
              <a:t>// DƏYIŞMƏZ AUDIT QEYDI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1800" y="3557736"/>
            <a:ext cx="4362450" cy="1457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95"/>
              </a:lnSpc>
              <a:defRPr sz="1200">
                <a:solidFill>
                  <a:srgbClr val="38BDF8"/>
                </a:solidFill>
                <a:latin typeface="Consolas"/>
              </a:defRPr>
            </a:pPr>
            <a:r>
              <a:t>Tracking: INV-2026-AGD-1042</a:t>
            </a:r>
            <a:br/>
            <a:r>
              <a:t>Event: STATUS_CHANGED -&gt; APPROVED</a:t>
            </a:r>
            <a:br/>
            <a:r>
              <a:t>Actor: Müsabiqə Komissiyası Sədri</a:t>
            </a:r>
            <a:br/>
            <a:r>
              <a:t>Timestamp: 2026-10-14 10:20:40</a:t>
            </a:r>
            <a:br/>
            <a:r>
              <a:t>Sync Status: EKTIS_EXPORTED_OK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2124075"/>
            <a:ext cx="440055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Outfit"/>
              </a:rPr>
              <a:t>1. Qəbul Edilib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0" y="2486025"/>
            <a:ext cx="4191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Sistemə daxil oldu və izləmə kodu verildi.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9200" y="3143250"/>
            <a:ext cx="3350418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Outfit"/>
              </a:rPr>
              <a:t>2. Baxılır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9200" y="3505200"/>
            <a:ext cx="3190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Komissiya biznes planı yoxlayır.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9200" y="4162425"/>
            <a:ext cx="4013001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Outfit"/>
              </a:rPr>
              <a:t>3. Əlavə Məlumat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9200" y="4524375"/>
            <a:ext cx="38219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İnvestor üçün bildiriş və sənəd tələbi.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9200" y="5181600"/>
            <a:ext cx="322540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Outfit"/>
              </a:rPr>
              <a:t>4. Təsdiq (Qalib)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9200" y="5543550"/>
            <a:ext cx="30718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Yekun qərar və EKTİS-ə ixrac.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62000" y="5391150"/>
            <a:ext cx="10668000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32250" y="3133725"/>
            <a:ext cx="19050" cy="1143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40550" y="3133725"/>
            <a:ext cx="19050" cy="1143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7675" y="5648325"/>
            <a:ext cx="238125" cy="190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-285750" y="762000"/>
            <a:ext cx="127635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6A34A"/>
                </a:solidFill>
                <a:latin typeface="Inter"/>
              </a:rPr>
              <a:t>KOMISSIYA PANELI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285750" y="1066800"/>
            <a:ext cx="127635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Outfit"/>
              </a:rPr>
              <a:t>Vahid Analitika Masası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136921" y="5629275"/>
            <a:ext cx="12465843" cy="228600"/>
          </a:xfrm>
          <a:prstGeom prst="rect">
            <a:avLst/>
          </a:prstGeom>
          <a:noFill/>
        </p:spPr>
        <p:txBody>
          <a:bodyPr wrap="none" lIns="352425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Tək Kliklə Dövlət İxracı (EKTİS Sync)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2967037"/>
            <a:ext cx="3300000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1" sz="6000" i="0" u="none">
                <a:solidFill>
                  <a:srgbClr val="0F172A"/>
                </a:solidFill>
                <a:latin typeface="Outfit"/>
              </a:rPr>
              <a:t>1,295</a:t>
            </a:r>
            <a:r>
              <a:rPr b="1" sz="3000" i="0" u="none">
                <a:solidFill>
                  <a:srgbClr val="64748B"/>
                </a:solidFill>
                <a:latin typeface="Outfit"/>
              </a:rPr>
              <a:t> 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3881437"/>
            <a:ext cx="33000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334155"/>
                </a:solidFill>
                <a:latin typeface="Outfit"/>
              </a:rPr>
              <a:t>Müsabiqəyə Çıxarılan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00" y="4243387"/>
            <a:ext cx="330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Inter"/>
              </a:rPr>
              <a:t>Ağdam, Füzuli, Zəngilan.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0000" y="2967037"/>
            <a:ext cx="3100000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1" sz="6000" i="0" u="none">
                <a:solidFill>
                  <a:srgbClr val="16A34A"/>
                </a:solidFill>
                <a:latin typeface="Outfit"/>
              </a:rPr>
              <a:t>14.8M</a:t>
            </a:r>
            <a:r>
              <a:rPr b="1" sz="3000" i="0" u="none">
                <a:solidFill>
                  <a:srgbClr val="64748B"/>
                </a:solidFill>
                <a:latin typeface="Outfit"/>
              </a:rPr>
              <a:t> 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0000" y="3881437"/>
            <a:ext cx="31000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334155"/>
                </a:solidFill>
                <a:latin typeface="Outfit"/>
              </a:rPr>
              <a:t>Təklif Olunan İnvestisiya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0000" y="4243387"/>
            <a:ext cx="310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Inter"/>
              </a:rPr>
              <a:t>Özəl sektor kapitallaşması.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00000" y="2967037"/>
            <a:ext cx="3300000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1" sz="6000" i="0" u="none">
                <a:solidFill>
                  <a:srgbClr val="3B82F6"/>
                </a:solidFill>
                <a:latin typeface="Outfit"/>
              </a:rPr>
              <a:t>840+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00000" y="3881437"/>
            <a:ext cx="33000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334155"/>
                </a:solidFill>
                <a:latin typeface="Outfit"/>
              </a:rPr>
              <a:t>Planlaşdırılan İş Yeri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0000" y="4243387"/>
            <a:ext cx="330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Inter"/>
              </a:rPr>
              <a:t>Daimi aqrar məşğulluq.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E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62000" y="1943100"/>
            <a:ext cx="3302049" cy="4152900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45049" y="1943100"/>
            <a:ext cx="3302049" cy="4152900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28099" y="1943100"/>
            <a:ext cx="3302049" cy="4152900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925" y="2409825"/>
            <a:ext cx="400050" cy="533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5975" y="2409825"/>
            <a:ext cx="400050" cy="533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5687" y="2409825"/>
            <a:ext cx="466725" cy="533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-285750" y="762000"/>
            <a:ext cx="127635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Outfit"/>
              </a:rPr>
              <a:t>Müasir və Təhlükəsiz Memarlıq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2860" y="3171825"/>
            <a:ext cx="144018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F172A"/>
                </a:solidFill>
                <a:latin typeface="Outfit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247" y="3733800"/>
            <a:ext cx="286940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475569"/>
                </a:solidFill>
                <a:latin typeface="Inter"/>
              </a:rPr>
              <a:t>Java 21 və Spring Boot 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50" y="4076700"/>
            <a:ext cx="296074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475569"/>
                </a:solidFill>
                <a:latin typeface="Inter"/>
              </a:rPr>
              <a:t>PostgreSQL və H2 məlumat bazası.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9655" y="3171825"/>
            <a:ext cx="1512689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F172A"/>
                </a:solidFill>
                <a:latin typeface="Outfit"/>
              </a:rP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5699" y="3733800"/>
            <a:ext cx="296074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475569"/>
                </a:solidFill>
                <a:latin typeface="Inter"/>
              </a:rPr>
              <a:t>Leaflet.js GIS xəritələməsi.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2031" y="4305300"/>
            <a:ext cx="25479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475569"/>
                </a:solidFill>
                <a:latin typeface="Inter"/>
              </a:rPr>
              <a:t>100% mobil adaptivlik.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2944" y="3171825"/>
            <a:ext cx="2052209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F172A"/>
                </a:solidFill>
                <a:latin typeface="Outfit"/>
              </a:rPr>
              <a:t>Təhlükəsizlik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8749" y="3733800"/>
            <a:ext cx="296074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475569"/>
                </a:solidFill>
                <a:latin typeface="Inter"/>
              </a:rPr>
              <a:t>Asan Login və SİMA inteqrasiyası.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8893" y="4305300"/>
            <a:ext cx="250031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475569"/>
                </a:solidFill>
                <a:latin typeface="Inter"/>
              </a:rPr>
              <a:t>RBAC rol idarəetməsi.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8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943100"/>
            <a:ext cx="12192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284C7"/>
                </a:solidFill>
                <a:latin typeface="Inter"/>
              </a:rPr>
              <a:t>SOSIAL-İQTISADI TÖHFƏ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247900"/>
            <a:ext cx="121920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Outfit"/>
              </a:rPr>
              <a:t>Ölçüləbilən Təsir və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000" y="3450000"/>
            <a:ext cx="2288000" cy="800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b="1" sz="5400" i="0" u="none">
                <a:solidFill>
                  <a:srgbClr val="0284C7"/>
                </a:solidFill>
                <a:latin typeface="Outfit"/>
              </a:rPr>
              <a:t>-89%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000" y="4350000"/>
            <a:ext cx="2288000" cy="950000"/>
          </a:xfrm>
          <a:prstGeom prst="rect">
            <a:avLst/>
          </a:prstGeom>
          <a:noFill/>
        </p:spPr>
        <p:txBody>
          <a:bodyPr wrap="square" lIns="45720" rIns="45720" tIns="0" bIns="0" anchor="t">
            <a:spAutoFit/>
          </a:bodyPr>
          <a:lstStyle/>
          <a:p>
            <a:pPr algn="ctr">
              <a:defRPr sz="1400">
                <a:solidFill>
                  <a:srgbClr val="475569"/>
                </a:solidFill>
              </a:defRPr>
            </a:pPr>
            <a:r>
              <a:t>Müsabiqə müddətinin</a:t>
            </a:r>
          </a:p>
          <a:p>
            <a:pPr algn="ctr">
              <a:defRPr sz="1400">
                <a:solidFill>
                  <a:srgbClr val="475569"/>
                </a:solidFill>
              </a:defRPr>
            </a:pPr>
            <a:r>
              <a:t>qısalması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8000" y="3450000"/>
            <a:ext cx="2288000" cy="800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b="1" sz="5400" i="0" u="none">
                <a:solidFill>
                  <a:srgbClr val="16A34A"/>
                </a:solidFill>
                <a:latin typeface="Outfit"/>
              </a:rPr>
              <a:t>50K+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8000" y="4350000"/>
            <a:ext cx="2288000" cy="950000"/>
          </a:xfrm>
          <a:prstGeom prst="rect">
            <a:avLst/>
          </a:prstGeom>
          <a:noFill/>
        </p:spPr>
        <p:txBody>
          <a:bodyPr wrap="square" lIns="45720" rIns="45720" tIns="0" bIns="0" anchor="t">
            <a:spAutoFit/>
          </a:bodyPr>
          <a:lstStyle/>
          <a:p>
            <a:pPr algn="ctr">
              <a:defRPr sz="1400">
                <a:solidFill>
                  <a:srgbClr val="475569"/>
                </a:solidFill>
              </a:defRPr>
            </a:pPr>
            <a:r>
              <a:t>Dövriyyəyə daxil</a:t>
            </a:r>
          </a:p>
          <a:p>
            <a:pPr algn="ctr">
              <a:defRPr sz="1400">
                <a:solidFill>
                  <a:srgbClr val="475569"/>
                </a:solidFill>
              </a:defRPr>
            </a:pPr>
            <a:r>
              <a:t>olan hektar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000" y="3450000"/>
            <a:ext cx="2288000" cy="800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b="1" sz="5400" i="0" u="none">
                <a:solidFill>
                  <a:srgbClr val="0F172A"/>
                </a:solidFill>
                <a:latin typeface="Outfit"/>
              </a:rPr>
              <a:t>15K+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000" y="4350000"/>
            <a:ext cx="2288000" cy="950000"/>
          </a:xfrm>
          <a:prstGeom prst="rect">
            <a:avLst/>
          </a:prstGeom>
          <a:noFill/>
        </p:spPr>
        <p:txBody>
          <a:bodyPr wrap="square" lIns="45720" rIns="45720" tIns="0" bIns="0" anchor="t">
            <a:spAutoFit/>
          </a:bodyPr>
          <a:lstStyle/>
          <a:p>
            <a:pPr algn="ctr">
              <a:defRPr sz="1400">
                <a:solidFill>
                  <a:srgbClr val="475569"/>
                </a:solidFill>
              </a:defRPr>
            </a:pPr>
            <a:r>
              <a:t>Yeni kənd təsərrüfatı</a:t>
            </a:r>
          </a:p>
          <a:p>
            <a:pPr algn="ctr">
              <a:defRPr sz="1400">
                <a:solidFill>
                  <a:srgbClr val="475569"/>
                </a:solidFill>
              </a:defRPr>
            </a:pPr>
            <a:r>
              <a:t>iş yeri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54000" y="3450000"/>
            <a:ext cx="2288000" cy="800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b="1" sz="5400" i="0" u="none">
                <a:solidFill>
                  <a:srgbClr val="DC2626"/>
                </a:solidFill>
                <a:latin typeface="Outfit"/>
              </a:rPr>
              <a:t>500M+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4000" y="4350000"/>
            <a:ext cx="2288000" cy="950000"/>
          </a:xfrm>
          <a:prstGeom prst="rect">
            <a:avLst/>
          </a:prstGeom>
          <a:noFill/>
        </p:spPr>
        <p:txBody>
          <a:bodyPr wrap="square" lIns="45720" rIns="45720" tIns="0" bIns="0" anchor="t">
            <a:spAutoFit/>
          </a:bodyPr>
          <a:lstStyle/>
          <a:p>
            <a:pPr algn="ctr">
              <a:defRPr sz="1400">
                <a:solidFill>
                  <a:srgbClr val="475569"/>
                </a:solidFill>
              </a:defRPr>
            </a:pPr>
            <a:r>
              <a:t>Cəlb olunan investisiya</a:t>
            </a:r>
          </a:p>
          <a:p>
            <a:pPr algn="ctr">
              <a:defRPr sz="1400">
                <a:solidFill>
                  <a:srgbClr val="475569"/>
                </a:solidFill>
              </a:defRPr>
            </a:pPr>
            <a:r>
              <a:t>(AZN)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C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75270" y="3509962"/>
            <a:ext cx="10241458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-285750" y="2128837"/>
            <a:ext cx="12763500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150" i="0" u="none">
                <a:solidFill>
                  <a:srgbClr val="0F172A"/>
                </a:solidFill>
                <a:latin typeface="Outfit"/>
              </a:rPr>
              <a:t>Post-Hakaton İnkişaf Yol Xəritəsi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2500" y="3395662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19500" y="3395662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381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86500" y="3395662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38100">
            <a:solidFill>
              <a:srgbClr val="EAB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53500" y="3395662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381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2500" y="3890962"/>
            <a:ext cx="2400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6A34A"/>
                </a:solidFill>
                <a:latin typeface="Inter"/>
              </a:rPr>
              <a:t>100% TAMAMLANIB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4157662"/>
            <a:ext cx="2400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Outfit"/>
              </a:rPr>
              <a:t>Hakaton Prototipi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4538662"/>
            <a:ext cx="2400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GIS Xəritə və Mock API.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9500" y="3890962"/>
            <a:ext cx="2400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B82F6"/>
                </a:solidFill>
                <a:latin typeface="Inter"/>
              </a:rPr>
              <a:t>1-3 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9500" y="4157662"/>
            <a:ext cx="2400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Outfit"/>
              </a:rPr>
              <a:t>Real İnteqrasiya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9500" y="4538662"/>
            <a:ext cx="2400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Real EKTİS və SİMA bağlantısı.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6500" y="3890962"/>
            <a:ext cx="2400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3-6 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6500" y="4157662"/>
            <a:ext cx="2400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Outfit"/>
              </a:rPr>
              <a:t>AI Analitika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6500" y="4538662"/>
            <a:ext cx="2400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Azərkosmos və Sentinel-2.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53500" y="3890962"/>
            <a:ext cx="2400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STRATEJI HƏDƏF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53500" y="4157662"/>
            <a:ext cx="2400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Outfit"/>
              </a:rPr>
              <a:t>Ümumrespublika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53500" y="4538662"/>
            <a:ext cx="2400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Bütün dövlət torpaq fondu.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D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62000" y="3246239"/>
            <a:ext cx="2438400" cy="2251471"/>
          </a:xfrm>
          <a:prstGeom prst="roundRect">
            <a:avLst>
              <a:gd name="adj" fmla="val 676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505200" y="3246239"/>
            <a:ext cx="2438400" cy="2251471"/>
          </a:xfrm>
          <a:prstGeom prst="roundRect">
            <a:avLst>
              <a:gd name="adj" fmla="val 676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48400" y="3246239"/>
            <a:ext cx="2438400" cy="2251471"/>
          </a:xfrm>
          <a:prstGeom prst="roundRect">
            <a:avLst>
              <a:gd name="adj" fmla="val 676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91600" y="3246239"/>
            <a:ext cx="2438400" cy="2251471"/>
          </a:xfrm>
          <a:prstGeom prst="roundRect">
            <a:avLst>
              <a:gd name="adj" fmla="val 676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3627239"/>
            <a:ext cx="28575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3627239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200" y="3627239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6400" y="3627239"/>
            <a:ext cx="381000" cy="381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762000"/>
            <a:ext cx="11430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DC2626"/>
                </a:solidFill>
                <a:latin typeface="Inter"/>
              </a:rPr>
              <a:t>MÖVCUD ÇAĞIRIŞLAR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066800"/>
            <a:ext cx="114300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Outfit"/>
              </a:rPr>
              <a:t>Bürokratik Əngəllər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1790700"/>
            <a:ext cx="114300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64748B"/>
                </a:solidFill>
                <a:latin typeface="Inter"/>
              </a:rPr>
              <a:t>100,000+ hektar münbit torpaq potensialının qarşısındakı maneələr.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" y="4236839"/>
            <a:ext cx="24003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Outfit"/>
              </a:rPr>
              <a:t>Kağız Proses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800" y="4636889"/>
            <a:ext cx="19240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30-45 günlük ləngimə.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0000" y="4236839"/>
            <a:ext cx="24003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Outfit"/>
              </a:rPr>
              <a:t>Pərakəndəlik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0000" y="4636889"/>
            <a:ext cx="19240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Vahid pəncərənin yoxluğu.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200" y="4236839"/>
            <a:ext cx="24003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Outfit"/>
              </a:rPr>
              <a:t>Mina Riski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200" y="4636889"/>
            <a:ext cx="19240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Qeyri-müəyyən təhlükəsizlik.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6400" y="4236839"/>
            <a:ext cx="24003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Outfit"/>
              </a:rPr>
              <a:t>Analiz Yoxdur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6400" y="4636889"/>
            <a:ext cx="19240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Parametrik müqayisənin yoxluğu.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333500" y="4470052"/>
            <a:ext cx="9525000" cy="619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33500" y="4470052"/>
            <a:ext cx="9525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437" y="1768822"/>
            <a:ext cx="12049125" cy="1462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b="1" sz="4800" i="0" u="none">
                <a:solidFill>
                  <a:srgbClr val="FFFFFF"/>
                </a:solidFill>
                <a:latin typeface="Outfit"/>
              </a:rPr>
              <a:t>Qarabağın Torpağı Bərəkətli, İnvestisiyalarımız Rəqəmsaldır!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875" y="3536602"/>
            <a:ext cx="119062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4ADE80"/>
                </a:solidFill>
                <a:latin typeface="Inter"/>
              </a:rPr>
              <a:t>Diqqətinizə Görə Təşəkkür Edirik!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0000" y="4860577"/>
            <a:ext cx="290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CBD5E1"/>
                </a:solidFill>
                <a:latin typeface="Inter"/>
              </a:rPr>
              <a:t>Hackathon Komandası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00000" y="4860577"/>
            <a:ext cx="270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CBD5E1"/>
                </a:solidFill>
                <a:latin typeface="Inter"/>
              </a:rPr>
              <a:t>info@investarea.gov.az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00000" y="4860577"/>
            <a:ext cx="250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CBD5E1"/>
                </a:solidFill>
                <a:latin typeface="Inter"/>
              </a:rPr>
              <a:t>GitHub: InvestArea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